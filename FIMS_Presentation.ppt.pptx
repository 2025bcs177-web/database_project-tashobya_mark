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90" d="100"/>
          <a:sy n="90" d="100"/>
        </p:scale>
        <p:origin x="60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26849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3200400"/>
            <a:ext cx="4572000" cy="4572000"/>
          </a:xfrm>
          <a:prstGeom prst="ellipse">
            <a:avLst/>
          </a:prstGeom>
          <a:solidFill>
            <a:srgbClr val="2E86AB">
              <a:alpha val="12000"/>
            </a:srgbClr>
          </a:solidFill>
          <a:ln w="12700">
            <a:solidFill>
              <a:srgbClr val="2E86AB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1A5276">
              <a:alpha val="15000"/>
            </a:srgbClr>
          </a:solidFill>
          <a:ln w="12700">
            <a:solidFill>
              <a:srgbClr val="1A5276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8016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kern="0" spc="4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FIMS PROJECT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2606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Insurance Management System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303580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 &amp; Implementation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200400" y="3566160"/>
            <a:ext cx="2743200" cy="2743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TASHOBYA MARK  |  2025/BCS/177/PS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48463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 of 15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73152" cy="56692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EXECUTIVE SUMMARY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Fire Insurance Management System (FIMS) is a relational database application designed to automate the management of fire insurance policies. This project documents the complete lifecycle of database development: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11480" y="2103120"/>
            <a:ext cx="4114800" cy="1097280"/>
          </a:xfrm>
          <a:prstGeom prst="rect">
            <a:avLst/>
          </a:prstGeom>
          <a:solidFill>
            <a:srgbClr val="F7F9FA"/>
          </a:solidFill>
          <a:ln w="12700">
            <a:solidFill>
              <a:srgbClr val="DEE4EA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76072" y="2423160"/>
            <a:ext cx="384048" cy="384048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72" y="2423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69848" y="2212848"/>
            <a:ext cx="329184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Developing a business case and identifying requirements.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2103120"/>
            <a:ext cx="4114800" cy="1097280"/>
          </a:xfrm>
          <a:prstGeom prst="rect">
            <a:avLst/>
          </a:prstGeom>
          <a:solidFill>
            <a:srgbClr val="F7F9FA"/>
          </a:solidFill>
          <a:ln w="12700">
            <a:solidFill>
              <a:srgbClr val="DEE4EA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73752" y="2423160"/>
            <a:ext cx="384048" cy="384048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73752" y="2423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367528" y="2212848"/>
            <a:ext cx="329184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normalized logical and physical designs.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1480" y="3383280"/>
            <a:ext cx="4114800" cy="1097280"/>
          </a:xfrm>
          <a:prstGeom prst="rect">
            <a:avLst/>
          </a:prstGeom>
          <a:solidFill>
            <a:srgbClr val="F7F9FA"/>
          </a:solidFill>
          <a:ln w="12700">
            <a:solidFill>
              <a:srgbClr val="DEE4EA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76072" y="3703320"/>
            <a:ext cx="384048" cy="384048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072" y="3703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69848" y="3493008"/>
            <a:ext cx="329184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using MariaDB and loading sample data.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09160" y="3383280"/>
            <a:ext cx="4114800" cy="1097280"/>
          </a:xfrm>
          <a:prstGeom prst="rect">
            <a:avLst/>
          </a:prstGeom>
          <a:solidFill>
            <a:srgbClr val="F7F9FA"/>
          </a:solidFill>
          <a:ln w="12700">
            <a:solidFill>
              <a:srgbClr val="DEE4EA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73752" y="3703320"/>
            <a:ext cx="384048" cy="384048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73752" y="3703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367528" y="3493008"/>
            <a:ext cx="329184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Executing queries to solve organizational problems.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11480" y="48463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of 15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73152" cy="56692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BUSINESS CASE: APPLICATION DOMAIN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463040"/>
            <a:ext cx="4114800" cy="3108960"/>
          </a:xfrm>
          <a:prstGeom prst="rect">
            <a:avLst/>
          </a:prstGeom>
          <a:solidFill>
            <a:srgbClr val="F7F9FA"/>
          </a:solidFill>
          <a:ln w="12700">
            <a:solidFill>
              <a:srgbClr val="DEE4EA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463040"/>
            <a:ext cx="64008" cy="310896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" y="160020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Analysis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12648" y="2084832"/>
            <a:ext cx="37490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FIMS operates within the Property Insurance sector. It tracks insured properties, the policies covering them, and manages the financial transactions associated with premiums.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463040"/>
            <a:ext cx="4114800" cy="3108960"/>
          </a:xfrm>
          <a:prstGeom prst="rect">
            <a:avLst/>
          </a:prstGeom>
          <a:solidFill>
            <a:srgbClr val="F7F9FA"/>
          </a:solidFill>
          <a:ln w="12700">
            <a:solidFill>
              <a:srgbClr val="DEE4EA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463040"/>
            <a:ext cx="64008" cy="310896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56048" y="160020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Users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56048" y="2084832"/>
            <a:ext cx="37490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is designed for Insurance Agents, Claims Officers, and Administrative staff to manage customer profiles and claim processing efficiently.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48463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of 15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73152" cy="56692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BUSINESS CASE: BENEFITS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417320"/>
            <a:ext cx="4114800" cy="3291840"/>
          </a:xfrm>
          <a:prstGeom prst="rect">
            <a:avLst/>
          </a:prstGeom>
          <a:solidFill>
            <a:srgbClr val="F7F9FA"/>
          </a:solidFill>
          <a:ln w="12700">
            <a:solidFill>
              <a:srgbClr val="DEE4EA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417320"/>
            <a:ext cx="4114800" cy="59436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1417320"/>
            <a:ext cx="37856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Tangible Benefits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" y="2212848"/>
            <a:ext cx="164592" cy="164592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2121408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paper-based filing costs.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" y="2962656"/>
            <a:ext cx="164592" cy="164592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2871216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Elimination of manual data entry errors.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4360" y="3712464"/>
            <a:ext cx="164592" cy="164592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6968" y="3621024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retrieval of historical claim data.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1417320"/>
            <a:ext cx="4114800" cy="3291840"/>
          </a:xfrm>
          <a:prstGeom prst="rect">
            <a:avLst/>
          </a:prstGeom>
          <a:solidFill>
            <a:srgbClr val="F7F9FA"/>
          </a:solidFill>
          <a:ln w="12700">
            <a:solidFill>
              <a:srgbClr val="DEE4EA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417320"/>
            <a:ext cx="4114800" cy="594360"/>
          </a:xfrm>
          <a:prstGeom prst="rect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19472" y="1417320"/>
            <a:ext cx="37856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Intangible Benefits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937760" y="2212848"/>
            <a:ext cx="164592" cy="164592"/>
          </a:xfrm>
          <a:prstGeom prst="ellipse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30368" y="2121408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data security and privacy.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937760" y="2962656"/>
            <a:ext cx="164592" cy="164592"/>
          </a:xfrm>
          <a:prstGeom prst="ellipse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30368" y="2871216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Increased customer trust through faster claim settlement.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937760" y="3712464"/>
            <a:ext cx="164592" cy="164592"/>
          </a:xfrm>
          <a:prstGeom prst="ellipse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30368" y="3621024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management oversight via reporting.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11480" y="48463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of 15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73152" cy="56692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BUSINESS CASE: COSTS &amp; RISKS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280160"/>
            <a:ext cx="8321040" cy="1005840"/>
          </a:xfrm>
          <a:prstGeom prst="rect">
            <a:avLst/>
          </a:prstGeom>
          <a:solidFill>
            <a:srgbClr val="E6F7F4"/>
          </a:solidFill>
          <a:ln w="12700">
            <a:solidFill>
              <a:srgbClr val="2E86AB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353312"/>
            <a:ext cx="7955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Costs: </a:t>
            </a: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implementation costs due to the use of open-source MySQL/MariaDB. Main effort involves initial system training for employees.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248716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&amp; Limitations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11480" y="2999232"/>
            <a:ext cx="2633472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4EA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2999232"/>
            <a:ext cx="2633472" cy="411480"/>
          </a:xfrm>
          <a:prstGeom prst="rect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999232"/>
            <a:ext cx="2450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Loss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21208" y="3474720"/>
            <a:ext cx="241401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mitigated by automated backups.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46120" y="2999232"/>
            <a:ext cx="2633472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4EA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2999232"/>
            <a:ext cx="2633472" cy="411480"/>
          </a:xfrm>
          <a:prstGeom prst="rect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2999232"/>
            <a:ext cx="2450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Limit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55848" y="3474720"/>
            <a:ext cx="241401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only Fire Hazards; multi-peril policies not in V1.0.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80760" y="2999232"/>
            <a:ext cx="2633472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4EA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80760" y="2999232"/>
            <a:ext cx="2633472" cy="411480"/>
          </a:xfrm>
          <a:prstGeom prst="rect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2999232"/>
            <a:ext cx="2450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Dependency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90488" y="3474720"/>
            <a:ext cx="241401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on internet/local network availability.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11480" y="48463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of 15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73152" cy="56692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LOGICAL DESIGN: ENTITIES (1–4)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325880"/>
          <a:ext cx="8321040" cy="384048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B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Key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B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Attributes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B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709928"/>
          <a:ext cx="8321040" cy="566928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customer_id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first_name, last_name, phone, email, address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31720"/>
          <a:ext cx="8321040" cy="566928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property_id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customer_id (FK), type, location, value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953512"/>
          <a:ext cx="8321040" cy="566928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policy_id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property_id (FK), coverage, premium, status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1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3575304"/>
          <a:ext cx="8321040" cy="566928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payment_id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policy_id (FK), date, amount, method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" name="Text 2"/>
          <p:cNvSpPr/>
          <p:nvPr/>
        </p:nvSpPr>
        <p:spPr>
          <a:xfrm>
            <a:off x="411480" y="48463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 of 15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73152" cy="56692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LOGICAL DESIGN: ENTITIES (5–8)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325880"/>
          <a:ext cx="8321040" cy="384048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B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Key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B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Attributes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B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709928"/>
          <a:ext cx="8321040" cy="566928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FireIncident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incident_id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property_id (FK), date, cause, damage_level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31720"/>
          <a:ext cx="8321040" cy="566928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Claim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claim_id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policy_id (FK), incident_id (FK), date, amount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9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953512"/>
          <a:ext cx="8321040" cy="566928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Employee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employee_id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employee_name, role, contact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3575304"/>
          <a:ext cx="8321040" cy="566928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Renewal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renewal_id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policy_id (FK), renewal_date, amount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" name="Text 2"/>
          <p:cNvSpPr/>
          <p:nvPr/>
        </p:nvSpPr>
        <p:spPr>
          <a:xfrm>
            <a:off x="411480" y="48463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 of 15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73152" cy="56692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LOGICAL DESIGN: MULTIPLICITIES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66306" y="446567"/>
            <a:ext cx="8020493" cy="10439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uses relational logic to link entities: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11480" y="48463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 of 15</a:t>
            </a:r>
            <a:endParaRPr lang="en-US" sz="900" dirty="0"/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603" y="1226235"/>
            <a:ext cx="7612770" cy="370238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73152" cy="56692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LOGICAL DESIGN: ER DIAGRAM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32391" y="978408"/>
            <a:ext cx="8321040" cy="3867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4EA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594360" y="269748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48463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 of 15</a:t>
            </a:r>
            <a:endParaRPr lang="en-US" sz="9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3356" y="988960"/>
            <a:ext cx="4966681" cy="39030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73152" cy="56692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LOGICAL DESIGN: DIALOGUE STRUCTURE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Workflow: Issuing a New Policy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726680" y="1828800"/>
            <a:ext cx="1298448" cy="2011680"/>
          </a:xfrm>
          <a:prstGeom prst="rect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11480" y="48463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 of 15</a:t>
            </a:r>
            <a:endParaRPr lang="en-US" sz="900" dirty="0"/>
          </a:p>
        </p:txBody>
      </p:sp>
      <p:graphicFrame>
        <p:nvGraphicFramePr>
          <p:cNvPr id="37" name="Table 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1945536"/>
              </p:ext>
            </p:extLst>
          </p:nvPr>
        </p:nvGraphicFramePr>
        <p:xfrm>
          <a:off x="484632" y="1550536"/>
          <a:ext cx="6972334" cy="326364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39434">
                  <a:extLst>
                    <a:ext uri="{9D8B030D-6E8A-4147-A177-3AD203B41FA5}">
                      <a16:colId xmlns:a16="http://schemas.microsoft.com/office/drawing/2014/main" val="3388053012"/>
                    </a:ext>
                  </a:extLst>
                </a:gridCol>
                <a:gridCol w="1846753">
                  <a:extLst>
                    <a:ext uri="{9D8B030D-6E8A-4147-A177-3AD203B41FA5}">
                      <a16:colId xmlns:a16="http://schemas.microsoft.com/office/drawing/2014/main" val="3410282708"/>
                    </a:ext>
                  </a:extLst>
                </a:gridCol>
                <a:gridCol w="4286147">
                  <a:extLst>
                    <a:ext uri="{9D8B030D-6E8A-4147-A177-3AD203B41FA5}">
                      <a16:colId xmlns:a16="http://schemas.microsoft.com/office/drawing/2014/main" val="425592799"/>
                    </a:ext>
                  </a:extLst>
                </a:gridCol>
              </a:tblGrid>
              <a:tr h="17558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Step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2675" marR="52675" marT="35116" marB="35116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Screen / Action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2675" marR="52675" marT="35116" marB="35116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Description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2675" marR="52675" marT="35116" marB="35116" anchor="ctr"/>
                </a:tc>
                <a:extLst>
                  <a:ext uri="{0D108BD9-81ED-4DB2-BD59-A6C34878D82A}">
                    <a16:rowId xmlns:a16="http://schemas.microsoft.com/office/drawing/2014/main" val="1849371975"/>
                  </a:ext>
                </a:extLst>
              </a:tr>
              <a:tr h="417885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1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2675" marR="52675" marT="35116" marB="35116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User Login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2675" marR="52675" marT="35116" marB="35116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User enters username and password; system validates credentials and assigns role-based access permissions (agent, claims officer, admin, or management)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2675" marR="52675" marT="35116" marB="35116"/>
                </a:tc>
                <a:extLst>
                  <a:ext uri="{0D108BD9-81ED-4DB2-BD59-A6C34878D82A}">
                    <a16:rowId xmlns:a16="http://schemas.microsoft.com/office/drawing/2014/main" val="1787108234"/>
                  </a:ext>
                </a:extLst>
              </a:tr>
              <a:tr h="533769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2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2675" marR="52675" marT="35116" marB="35116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dirty="0">
                          <a:effectLst/>
                        </a:rPr>
                        <a:t>Search / Add Customer</a:t>
                      </a:r>
                      <a:endParaRPr lang="en-US" sz="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2675" marR="52675" marT="35116" marB="35116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Agent searches for an existing customer by name or ID; if new, enters full customer details: first name, last name, phone number, email address, and physical address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2675" marR="52675" marT="35116" marB="35116"/>
                </a:tc>
                <a:extLst>
                  <a:ext uri="{0D108BD9-81ED-4DB2-BD59-A6C34878D82A}">
                    <a16:rowId xmlns:a16="http://schemas.microsoft.com/office/drawing/2014/main" val="1152283787"/>
                  </a:ext>
                </a:extLst>
              </a:tr>
              <a:tr h="533769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3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2675" marR="52675" marT="35116" marB="35116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Register Property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2675" marR="52675" marT="35116" marB="35116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Agent enters full property details: property type (residential/commercial/industrial), physical location, declared monetary value, year built, and size in square metres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2675" marR="52675" marT="35116" marB="35116"/>
                </a:tc>
                <a:extLst>
                  <a:ext uri="{0D108BD9-81ED-4DB2-BD59-A6C34878D82A}">
                    <a16:rowId xmlns:a16="http://schemas.microsoft.com/office/drawing/2014/main" val="3921431846"/>
                  </a:ext>
                </a:extLst>
              </a:tr>
              <a:tr h="533769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4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2675" marR="52675" marT="35116" marB="35116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Define Policy Terms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2675" marR="52675" marT="35116" marB="35116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Agent selects coverage amount, system calculates premium (based on declared value × premium rate), sets policy start and end dates, and assigns policy status as 'Active'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2675" marR="52675" marT="35116" marB="35116"/>
                </a:tc>
                <a:extLst>
                  <a:ext uri="{0D108BD9-81ED-4DB2-BD59-A6C34878D82A}">
                    <a16:rowId xmlns:a16="http://schemas.microsoft.com/office/drawing/2014/main" val="335191321"/>
                  </a:ext>
                </a:extLst>
              </a:tr>
              <a:tr h="533769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5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2675" marR="52675" marT="35116" marB="35116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Process Initial Payment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2675" marR="52675" marT="35116" marB="35116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Finance staff records the first premium payment: amount, payment method (cash, mobile money, or bank transfer), transaction reference number, and payment date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2675" marR="52675" marT="35116" marB="35116"/>
                </a:tc>
                <a:extLst>
                  <a:ext uri="{0D108BD9-81ED-4DB2-BD59-A6C34878D82A}">
                    <a16:rowId xmlns:a16="http://schemas.microsoft.com/office/drawing/2014/main" val="1910709235"/>
                  </a:ext>
                </a:extLst>
              </a:tr>
              <a:tr h="533769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6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2675" marR="52675" marT="35116" marB="35116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System Confirmation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2675" marR="52675" marT="35116" marB="35116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dirty="0">
                          <a:effectLst/>
                        </a:rPr>
                        <a:t>System generates a unique policy number, stores all related records across Customer, Property, Policy, and Payment tables, and displays a summary confirmation to the agent</a:t>
                      </a:r>
                      <a:endParaRPr lang="en-US" sz="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2675" marR="52675" marT="35116" marB="35116"/>
                </a:tc>
                <a:extLst>
                  <a:ext uri="{0D108BD9-81ED-4DB2-BD59-A6C34878D82A}">
                    <a16:rowId xmlns:a16="http://schemas.microsoft.com/office/drawing/2014/main" val="3704723253"/>
                  </a:ext>
                </a:extLst>
              </a:tr>
            </a:tbl>
          </a:graphicData>
        </a:graphic>
      </p:graphicFrame>
      <p:sp>
        <p:nvSpPr>
          <p:cNvPr id="38" name="Rectangle 2"/>
          <p:cNvSpPr>
            <a:spLocks noChangeArrowheads="1"/>
          </p:cNvSpPr>
          <p:nvPr/>
        </p:nvSpPr>
        <p:spPr bwMode="auto">
          <a:xfrm>
            <a:off x="1275168" y="1549809"/>
            <a:ext cx="12767436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73152" cy="56692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34767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PHYSICAL DESIGN: MySQL SCHEMA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9144000" cy="41376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4EA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594360" y="269748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48463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11 of 15</a:t>
            </a:r>
            <a:endParaRPr lang="en-US" sz="9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480" y="991756"/>
            <a:ext cx="8732520" cy="367168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73152" cy="56692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IMPLEMENTATION: TABLE DESCRIPTIONS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32588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DESCRIBE CUSTOMER;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219456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813712" y="1828799"/>
            <a:ext cx="3827367" cy="2133845"/>
          </a:xfrm>
          <a:prstGeom prst="rect">
            <a:avLst/>
          </a:prstGeom>
          <a:solidFill>
            <a:srgbClr val="FFFFFF"/>
          </a:solidFill>
          <a:ln w="12700">
            <a:solidFill>
              <a:srgbClr val="DEE4EA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4754880" y="132588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DESCRIBE POLICY;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0" y="219456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475488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 confirming data types and constraints.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48463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12 of 15</a:t>
            </a:r>
            <a:endParaRPr lang="en-US" sz="900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828799"/>
            <a:ext cx="3735927" cy="2119423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3713" y="1814376"/>
            <a:ext cx="3827367" cy="214826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73152" cy="56692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IMPLEMENTATION: DATA SAMPLES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5858" y="859536"/>
            <a:ext cx="7813813" cy="4129377"/>
          </a:xfrm>
          <a:prstGeom prst="rect">
            <a:avLst/>
          </a:prstGeom>
          <a:solidFill>
            <a:srgbClr val="FFFFFF"/>
          </a:solidFill>
          <a:ln w="12700">
            <a:solidFill>
              <a:srgbClr val="DEE4EA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594360" y="265176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48463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13 of 15</a:t>
            </a:r>
            <a:endParaRPr lang="en-US" sz="9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858" y="859537"/>
            <a:ext cx="7813813" cy="412937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73152" cy="56692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34767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IMPLEMENTATION: SAMPLE QUERIES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23281" y="1037844"/>
            <a:ext cx="7439063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4EA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594360" y="1719072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94359" y="3167979"/>
            <a:ext cx="7379079" cy="139072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4EA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594360" y="3593592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48463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14 of 15</a:t>
            </a:r>
            <a:endParaRPr lang="en-US" sz="9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067436"/>
            <a:ext cx="7467984" cy="163838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167979"/>
            <a:ext cx="7379079" cy="139072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73152" cy="56692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BIBLIOGRAPHY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188720"/>
            <a:ext cx="8321040" cy="548640"/>
          </a:xfrm>
          <a:prstGeom prst="rect">
            <a:avLst/>
          </a:prstGeom>
          <a:solidFill>
            <a:srgbClr val="F7F9FA"/>
          </a:solidFill>
          <a:ln w="12700">
            <a:solidFill>
              <a:srgbClr val="DEE4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207008"/>
            <a:ext cx="7955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MariaDB Foundation (2024). MariaDB SQL Language Reference.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847088"/>
            <a:ext cx="8321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4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865376"/>
            <a:ext cx="7955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Lucidchart Guide to Database Design and ERDs.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2505456"/>
            <a:ext cx="8321040" cy="548640"/>
          </a:xfrm>
          <a:prstGeom prst="rect">
            <a:avLst/>
          </a:prstGeom>
          <a:solidFill>
            <a:srgbClr val="F7F9FA"/>
          </a:solidFill>
          <a:ln w="12700">
            <a:solidFill>
              <a:srgbClr val="DEE4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523744"/>
            <a:ext cx="7955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"Database Management Systems", Self-paced Assignment Guidelines 2026.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3163824"/>
            <a:ext cx="8321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4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3182112"/>
            <a:ext cx="7955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"Modern Database Management" (12th Ed), Hoffer et al.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11480" y="3840480"/>
            <a:ext cx="8321040" cy="868680"/>
          </a:xfrm>
          <a:prstGeom prst="rect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3840480"/>
            <a:ext cx="8321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11480" y="48463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15 of 15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777</Words>
  <Application>Microsoft Office PowerPoint</Application>
  <PresentationFormat>On-screen Show (16:9)</PresentationFormat>
  <Paragraphs>138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Consolas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FIMS - Fire Insurance Management System</dc:title>
  <dc:subject>PptxGenJS Presentation</dc:subject>
  <dc:creator>PptxGenJS</dc:creator>
  <cp:lastModifiedBy>DXB GADGETS</cp:lastModifiedBy>
  <cp:revision>7</cp:revision>
  <dcterms:created xsi:type="dcterms:W3CDTF">2026-05-05T09:47:30Z</dcterms:created>
  <dcterms:modified xsi:type="dcterms:W3CDTF">2026-05-06T17:21:12Z</dcterms:modified>
</cp:coreProperties>
</file>